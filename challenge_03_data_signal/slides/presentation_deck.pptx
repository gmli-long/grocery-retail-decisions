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4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Microsoft YaHei"/>
              </a:rPr>
              <a:t>挑战 03 · 数据 → 信号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6EAF8"/>
                </a:solidFill>
                <a:latin typeface="Microsoft YaHei"/>
              </a:rPr>
              <a:t>把干净的数据转化为启发性的预测信号 —— 季节性 · 周期 · 节假日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114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D6EAF8"/>
                </a:solidFill>
                <a:latin typeface="Microsoft YaHei"/>
              </a:rPr>
              <a:t>《杂货零售——数据驱动》第三里程碑：可靠性与远见的连接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98348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~365d / 7d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6EAF8"/>
                </a:solidFill>
                <a:latin typeface="Microsoft YaHei"/>
              </a:rPr>
              <a:t>无监督发现的主导周期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1879" y="498348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+12.5%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79" y="56235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6EAF8"/>
                </a:solidFill>
                <a:latin typeface="Microsoft YaHei"/>
              </a:rPr>
              <a:t>节假日销售抬升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98348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10.5%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6235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6EAF8"/>
                </a:solidFill>
                <a:latin typeface="Microsoft YaHei"/>
              </a:rPr>
              <a:t>总序列 MAPE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9719" y="4983480"/>
            <a:ext cx="2651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Microsoft YaHei"/>
              </a:rPr>
              <a:t>78%→30%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89719" y="562356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6EAF8"/>
                </a:solidFill>
                <a:latin typeface="Microsoft YaHei"/>
              </a:rPr>
              <a:t>Bakery 品类 MAPE</a:t>
            </a:r>
          </a:p>
        </p:txBody>
      </p:sp>
      <p:sp>
        <p:nvSpPr>
          <p:cNvPr id="14" name="AILabel"/>
          <p:cNvSpPr txBox="1"/>
          <p:nvPr/>
        </p:nvSpPr>
        <p:spPr>
          <a:xfrm>
            <a:off x="9611695" y="6278000"/>
            <a:ext cx="2400000" cy="400000"/>
          </a:xfrm>
          <a:prstGeom prst="rect">
            <a:avLst/>
          </a:prstGeom>
          <a:solidFill>
            <a:srgbClr val="000000">
              <a:alpha val="50000"/>
            </a:srgbClr>
          </a:solidFill>
          <a:ln w="12700">
            <a:solidFill>
              <a:srgbClr val="FFFFFF"/>
            </a:solidFill>
          </a:ln>
        </p:spPr>
        <p:txBody>
          <a:bodyPr wrap="square" rtlCol="0" anchor="ctr" lIns="91440" tIns="45720" rIns="91440" bIns="45720"/>
          <a:lstStyle/>
          <a:p>
            <a:pPr algn="ctr"/>
            <a:r>
              <a:rPr lang="zh-CN" sz="1400" b="1" dirty="0">
                <a:solidFill>
                  <a:srgbClr val="FFFFFF"/>
                </a:solidFill>
                <a:latin typeface="Arial"/>
                <a:ea typeface="SimSun"/>
              </a:rPr>
              <a:t>含 AI 生成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4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icrosoft YaHei"/>
              </a:rPr>
              <a:t>目标：让数据「有启发性」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6EAF8"/>
                </a:solidFill>
                <a:latin typeface="Microsoft YaHei"/>
              </a:rPr>
              <a:t>承接挑战 02 的诚信，进入挑战 03 的信号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B4F72"/>
                </a:solidFill>
                <a:latin typeface="Microsoft YaHei"/>
              </a:rPr>
              <a:t>• 探索季节性</a:t>
            </a:r>
            <a:r>
              <a:rPr sz="1500">
                <a:solidFill>
                  <a:srgbClr val="1A2332"/>
                </a:solidFill>
                <a:latin typeface="Microsoft YaHei"/>
              </a:rPr>
              <a:t> —— 周度与年度的稳定节奏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B4F72"/>
                </a:solidFill>
                <a:latin typeface="Microsoft YaHei"/>
              </a:rPr>
              <a:t>• 识别需求周期</a:t>
            </a:r>
            <a:r>
              <a:rPr sz="1500">
                <a:solidFill>
                  <a:srgbClr val="1A2332"/>
                </a:solidFill>
                <a:latin typeface="Microsoft YaHei"/>
              </a:rPr>
              <a:t> —— 无监督周期图自动发现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B4F72"/>
                </a:solidFill>
                <a:latin typeface="Microsoft YaHei"/>
              </a:rPr>
              <a:t>• 量化外部因子</a:t>
            </a:r>
            <a:r>
              <a:rPr sz="1500">
                <a:solidFill>
                  <a:srgbClr val="1A2332"/>
                </a:solidFill>
                <a:latin typeface="Microsoft YaHei"/>
              </a:rPr>
              <a:t> —— 节假日与价格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B4F72"/>
                </a:solidFill>
                <a:latin typeface="Microsoft YaHei"/>
              </a:rPr>
              <a:t>• 构建可解释预测流程</a:t>
            </a:r>
            <a:r>
              <a:rPr sz="1500">
                <a:solidFill>
                  <a:srgbClr val="1A2332"/>
                </a:solidFill>
                <a:latin typeface="Microsoft YaHei"/>
              </a:rPr>
              <a:t> —— 透明、可复现、业务意识</a:t>
            </a:r>
          </a:p>
        </p:txBody>
      </p:sp>
      <p:sp>
        <p:nvSpPr>
          <p:cNvPr id="6" name="Rectangle 5"/>
          <p:cNvSpPr/>
          <p:nvPr/>
        </p:nvSpPr>
        <p:spPr>
          <a:xfrm>
            <a:off x="6766560" y="1371600"/>
            <a:ext cx="4937760" cy="4480560"/>
          </a:xfrm>
          <a:prstGeom prst="rect">
            <a:avLst/>
          </a:prstGeom>
          <a:solidFill>
            <a:srgbClr val="EE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0" y="160020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B4F72"/>
                </a:solidFill>
                <a:latin typeface="Microsoft YaHei"/>
              </a:rPr>
              <a:t>数据范围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2148840"/>
            <a:ext cx="4480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B4F72"/>
                </a:solidFill>
                <a:latin typeface="Microsoft YaHei"/>
              </a:rPr>
              <a:t>5 年</a:t>
            </a:r>
            <a:r>
              <a:rPr sz="1300">
                <a:solidFill>
                  <a:srgbClr val="1A2332"/>
                </a:solidFill>
                <a:latin typeface="Microsoft YaHei"/>
              </a:rPr>
              <a:t>  2018–2022（1826 天，含闰日）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B4F72"/>
                </a:solidFill>
                <a:latin typeface="Microsoft YaHei"/>
              </a:rPr>
              <a:t>3 门店</a:t>
            </a:r>
            <a:r>
              <a:rPr sz="1300">
                <a:solidFill>
                  <a:srgbClr val="1A2332"/>
                </a:solidFill>
                <a:latin typeface="Microsoft YaHei"/>
              </a:rPr>
              <a:t>  西雅图 / 波特兰 / 博伊西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B4F72"/>
                </a:solidFill>
                <a:latin typeface="Microsoft YaHei"/>
              </a:rPr>
              <a:t>4 品类</a:t>
            </a:r>
            <a:r>
              <a:rPr sz="1300">
                <a:solidFill>
                  <a:srgbClr val="1A2332"/>
                </a:solidFill>
                <a:latin typeface="Microsoft YaHei"/>
              </a:rPr>
              <a:t>  Beverages / Bakery / Meat / Produce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B4F72"/>
                </a:solidFill>
                <a:latin typeface="Microsoft YaHe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B4F72"/>
                </a:solidFill>
                <a:latin typeface="Microsoft YaHei"/>
              </a:rPr>
              <a:t>21,912 条</a:t>
            </a:r>
            <a:r>
              <a:rPr sz="1300">
                <a:solidFill>
                  <a:srgbClr val="1A2332"/>
                </a:solidFill>
                <a:latin typeface="Microsoft YaHei"/>
              </a:rPr>
              <a:t>  完整日网格，无缺口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4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icrosoft YaHei"/>
              </a:rPr>
              <a:t>无监督发现：周 + 年双周期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6EAF8"/>
                </a:solidFill>
                <a:latin typeface="Microsoft YaHei"/>
              </a:rPr>
              <a:t>FFT 周期图，零日历先验</a:t>
            </a:r>
          </a:p>
        </p:txBody>
      </p:sp>
      <p:pic>
        <p:nvPicPr>
          <p:cNvPr id="5" name="Picture 4" descr="fig2_period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7406640" cy="256925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138160" y="1417320"/>
            <a:ext cx="3566160" cy="4389120"/>
          </a:xfrm>
          <a:prstGeom prst="rect">
            <a:avLst/>
          </a:prstGeom>
          <a:solidFill>
            <a:srgbClr val="EE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66760" y="164592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B4F72"/>
                </a:solidFill>
                <a:latin typeface="Microsoft YaHei"/>
              </a:rPr>
              <a:t>季节强度（STL）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2240280"/>
            <a:ext cx="32918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B4F72"/>
                </a:solidFill>
                <a:latin typeface="Microsoft YaHei"/>
              </a:rPr>
              <a:t>Produce 0.33</a:t>
            </a:r>
            <a:r>
              <a:rPr sz="1300">
                <a:solidFill>
                  <a:srgbClr val="1A2332"/>
                </a:solidFill>
                <a:latin typeface="Microsoft YaHei"/>
              </a:rPr>
              <a:t>  最敏感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B4F72"/>
                </a:solidFill>
                <a:latin typeface="Microsoft YaHei"/>
              </a:rPr>
              <a:t>Beverages 0.31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B4F72"/>
                </a:solidFill>
                <a:latin typeface="Microsoft YaHei"/>
              </a:rPr>
              <a:t>Bakery 0.28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B4F72"/>
                </a:solidFill>
                <a:latin typeface="Microsoft YaHei"/>
              </a:rPr>
              <a:t>Meat 0.24</a:t>
            </a:r>
            <a:r>
              <a:rPr sz="1300">
                <a:solidFill>
                  <a:srgbClr val="1A2332"/>
                </a:solidFill>
                <a:latin typeface="Microsoft YaHei"/>
              </a:rPr>
              <a:t>  最刚性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4754880"/>
            <a:ext cx="3291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67E22"/>
                </a:solidFill>
                <a:latin typeface="Microsoft YaHei"/>
              </a:rPr>
              <a:t>总序列 0.38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4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icrosoft YaHei"/>
              </a:rPr>
              <a:t>季节模式与外部因子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6EAF8"/>
                </a:solidFill>
                <a:latin typeface="Microsoft YaHei"/>
              </a:rPr>
              <a:t>周/年节奏 + 节假日脉冲 + 价格信号</a:t>
            </a:r>
          </a:p>
        </p:txBody>
      </p:sp>
      <p:pic>
        <p:nvPicPr>
          <p:cNvPr id="5" name="Picture 4" descr="fig4_annual_season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5760720" cy="2142252"/>
          </a:xfrm>
          <a:prstGeom prst="rect">
            <a:avLst/>
          </a:prstGeom>
        </p:spPr>
      </p:pic>
      <p:pic>
        <p:nvPicPr>
          <p:cNvPr id="6" name="Picture 5" descr="fig7_holiday_upl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2743200" cy="160780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9326880" y="1417320"/>
            <a:ext cx="2331720" cy="4206240"/>
          </a:xfrm>
          <a:prstGeom prst="rect">
            <a:avLst/>
          </a:prstGeom>
          <a:solidFill>
            <a:srgbClr val="EE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0" y="1600200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B4F72"/>
                </a:solidFill>
                <a:latin typeface="Microsoft YaHei"/>
              </a:rPr>
              <a:t>价格弹性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0" y="2148840"/>
            <a:ext cx="2103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C0392B"/>
                </a:solidFill>
                <a:latin typeface="Microsoft YaHei"/>
              </a:rPr>
              <a:t>≈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0" y="2926080"/>
            <a:ext cx="2103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472"/>
                </a:solidFill>
                <a:latin typeface="Microsoft YaHei"/>
              </a:rPr>
              <a:t>|r| &lt; 0.02
需求由日历驱动
而非价格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892040"/>
            <a:ext cx="8686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B4F72"/>
                </a:solidFill>
                <a:latin typeface="Microsoft YaHei"/>
              </a:rPr>
              <a:t>Q4 节假日峰</a:t>
            </a:r>
            <a:r>
              <a:rPr sz="1300">
                <a:solidFill>
                  <a:srgbClr val="1A2332"/>
                </a:solidFill>
                <a:latin typeface="Microsoft YaHei"/>
              </a:rPr>
              <a:t>  Bakery 最陡峭；节假日销售均值 +12.5%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B4F72"/>
                </a:solidFill>
                <a:latin typeface="Microsoft YaHei"/>
              </a:rPr>
              <a:t>无监督异常检测</a:t>
            </a:r>
            <a:r>
              <a:rPr sz="1300">
                <a:solidFill>
                  <a:srgbClr val="1A2332"/>
                </a:solidFill>
                <a:latin typeface="Microsoft YaHei"/>
              </a:rPr>
              <a:t>  18 个异常点中 12 个命中节假日（精确率 66.7%）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4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icrosoft YaHei"/>
              </a:rPr>
              <a:t>预测：SARIMA → SARIMAX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6EAF8"/>
                </a:solidFill>
                <a:latin typeface="Microsoft YaHei"/>
              </a:rPr>
              <a:t>训练 2018–2021，全盲测 2022（365 天）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371600"/>
            <a:ext cx="3291840" cy="4206240"/>
          </a:xfrm>
          <a:prstGeom prst="rect">
            <a:avLst/>
          </a:prstGeom>
          <a:solidFill>
            <a:srgbClr val="EE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5087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B4F72"/>
                </a:solidFill>
                <a:latin typeface="Microsoft YaHei"/>
              </a:rPr>
              <a:t>总序列 MAPE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05740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332"/>
                </a:solidFill>
                <a:latin typeface="Microsoft YaHei"/>
              </a:rPr>
              <a:t>persistence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205740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1A2332"/>
                </a:solidFill>
                <a:latin typeface="Microsoft YaHei"/>
              </a:rPr>
              <a:t>24.7%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15768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332"/>
                </a:solidFill>
                <a:latin typeface="Microsoft YaHei"/>
              </a:rPr>
              <a:t>seasonal-naive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2715768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1A2332"/>
                </a:solidFill>
                <a:latin typeface="Microsoft YaHei"/>
              </a:rPr>
              <a:t>20.5%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374135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332"/>
                </a:solidFill>
                <a:latin typeface="Microsoft YaHei"/>
              </a:rPr>
              <a:t>SARIMA（仅周）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3374135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>
                <a:solidFill>
                  <a:srgbClr val="1A2332"/>
                </a:solidFill>
                <a:latin typeface="Microsoft YaHei"/>
              </a:rPr>
              <a:t>15.1%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032503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0392B"/>
                </a:solidFill>
                <a:latin typeface="Microsoft YaHei"/>
              </a:rPr>
              <a:t>SARIMAX（+假日/年度）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4032503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C0392B"/>
                </a:solidFill>
                <a:latin typeface="Microsoft YaHei"/>
              </a:rPr>
              <a:t>10.5%</a:t>
            </a:r>
          </a:p>
        </p:txBody>
      </p:sp>
      <p:pic>
        <p:nvPicPr>
          <p:cNvPr id="15" name="Picture 14" descr="fig10_forecast_to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0" y="1371600"/>
            <a:ext cx="7589520" cy="316284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4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icrosoft YaHei"/>
              </a:rPr>
              <a:t>分层结果：外部因子全面生效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6EAF8"/>
                </a:solidFill>
                <a:latin typeface="Microsoft YaHei"/>
              </a:rPr>
              <a:t>Bakery 是「节假日 = 信号」的教科书案例</a:t>
            </a:r>
          </a:p>
        </p:txBody>
      </p:sp>
      <p:pic>
        <p:nvPicPr>
          <p:cNvPr id="5" name="Picture 4" descr="fig11_hierarchy_ma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6949440" cy="288162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680960" y="1417320"/>
            <a:ext cx="3977639" cy="4480560"/>
          </a:xfrm>
          <a:prstGeom prst="rect">
            <a:avLst/>
          </a:prstGeom>
          <a:solidFill>
            <a:srgbClr val="EE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09560" y="1645920"/>
            <a:ext cx="3566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B4F72"/>
                </a:solidFill>
                <a:latin typeface="Microsoft YaHei"/>
              </a:rPr>
              <a:t>Bakery 分品类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60" y="2240280"/>
            <a:ext cx="3566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B4F72"/>
                </a:solidFill>
                <a:latin typeface="Microsoft YaHei"/>
              </a:rPr>
              <a:t>朴素 / SARIMA</a:t>
            </a:r>
            <a:r>
              <a:rPr sz="1300">
                <a:solidFill>
                  <a:srgbClr val="1A2332"/>
                </a:solidFill>
                <a:latin typeface="Microsoft YaHei"/>
              </a:rPr>
              <a:t>  76.3% / 78.3%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B4F72"/>
                </a:solidFill>
                <a:latin typeface="Microsoft YaHei"/>
              </a:rPr>
              <a:t>SARIMAX</a:t>
            </a:r>
            <a:r>
              <a:rPr sz="1300">
                <a:solidFill>
                  <a:srgbClr val="1A2332"/>
                </a:solidFill>
                <a:latin typeface="Microsoft YaHei"/>
              </a:rPr>
              <a:t>  30.4%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9560" y="4023360"/>
            <a:ext cx="35661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B6472"/>
                </a:solidFill>
                <a:latin typeface="Microsoft YaHei"/>
              </a:rPr>
              <a:t>烘焙需求由圣诞/感恩节峰驱动，纯周模型无法触及，显式因子精准捕捉。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B4F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icrosoft YaHei"/>
              </a:rPr>
              <a:t>结论与启示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21207" y="65836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D6EAF8"/>
                </a:solidFill>
                <a:latin typeface="Microsoft YaHei"/>
              </a:rPr>
              <a:t>可信数据，不仅是正确 —— 而是启发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71600"/>
            <a:ext cx="7315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1B4F72"/>
                </a:solidFill>
                <a:latin typeface="Microsoft YaHei"/>
              </a:rPr>
              <a:t>• 节假日是最强可预测信号</a:t>
            </a:r>
            <a:r>
              <a:rPr sz="1500">
                <a:solidFill>
                  <a:srgbClr val="1A2332"/>
                </a:solidFill>
                <a:latin typeface="Microsoft YaHei"/>
              </a:rPr>
              <a:t> —— 优先于价格促销做库存/排班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B4F72"/>
                </a:solidFill>
                <a:latin typeface="Microsoft YaHei"/>
              </a:rPr>
              <a:t>• 品类分层建模</a:t>
            </a:r>
            <a:r>
              <a:rPr sz="1500">
                <a:solidFill>
                  <a:srgbClr val="1A2332"/>
                </a:solidFill>
                <a:latin typeface="Microsoft YaHei"/>
              </a:rPr>
              <a:t> —— Bakery 季节尖峰型 vs Meat 刚性型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B4F72"/>
                </a:solidFill>
                <a:latin typeface="Microsoft YaHei"/>
              </a:rPr>
              <a:t>• 门店节奏一致、体量不同</a:t>
            </a:r>
            <a:r>
              <a:rPr sz="1500">
                <a:solidFill>
                  <a:srgbClr val="1A2332"/>
                </a:solidFill>
                <a:latin typeface="Microsoft YaHei"/>
              </a:rPr>
              <a:t> —— 总盘按体量分摊 + 门店级微调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1B4F72"/>
                </a:solidFill>
                <a:latin typeface="Microsoft YaHei"/>
              </a:rPr>
              <a:t>• 每个数字可追溯</a:t>
            </a:r>
            <a:r>
              <a:rPr sz="1500">
                <a:solidFill>
                  <a:srgbClr val="1A2332"/>
                </a:solidFill>
                <a:latin typeface="Microsoft YaHei"/>
              </a:rPr>
              <a:t> —— reports/*.json + 确定性脚本一键重放</a:t>
            </a:r>
          </a:p>
        </p:txBody>
      </p:sp>
      <p:sp>
        <p:nvSpPr>
          <p:cNvPr id="6" name="Rectangle 5"/>
          <p:cNvSpPr/>
          <p:nvPr/>
        </p:nvSpPr>
        <p:spPr>
          <a:xfrm>
            <a:off x="8046720" y="1463040"/>
            <a:ext cx="3657600" cy="3840480"/>
          </a:xfrm>
          <a:prstGeom prst="rect">
            <a:avLst/>
          </a:prstGeom>
          <a:solidFill>
            <a:srgbClr val="EEF4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0" y="1691640"/>
            <a:ext cx="32918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B4F72"/>
                </a:solidFill>
                <a:latin typeface="Microsoft YaHei"/>
              </a:rPr>
              <a:t>SARIMA</a:t>
            </a:r>
            <a:r>
              <a:rPr sz="1300">
                <a:solidFill>
                  <a:srgbClr val="1A2332"/>
                </a:solidFill>
                <a:latin typeface="Microsoft YaHei"/>
              </a:rPr>
              <a:t>  15.1%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B4F72"/>
                </a:solidFill>
                <a:latin typeface="Microsoft YaHei"/>
              </a:rPr>
              <a:t>SARIMAX</a:t>
            </a:r>
            <a:r>
              <a:rPr sz="1300">
                <a:solidFill>
                  <a:srgbClr val="1A2332"/>
                </a:solidFill>
                <a:latin typeface="Microsoft YaHei"/>
              </a:rPr>
              <a:t>  10.5%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B4F72"/>
                </a:solidFill>
                <a:latin typeface="Microsoft YaHei"/>
              </a:rPr>
              <a:t>RMSE</a:t>
            </a:r>
            <a:r>
              <a:rPr sz="1300">
                <a:solidFill>
                  <a:srgbClr val="1A2332"/>
                </a:solidFill>
                <a:latin typeface="Microsoft YaHei"/>
              </a:rPr>
              <a:t>  1743 → 1286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B4F72"/>
                </a:solidFill>
                <a:latin typeface="Microsoft YaHei"/>
              </a:rPr>
              <a:t>AIC</a:t>
            </a:r>
            <a:r>
              <a:rPr sz="1300">
                <a:solidFill>
                  <a:srgbClr val="1A2332"/>
                </a:solidFill>
                <a:latin typeface="Microsoft YaHei"/>
              </a:rPr>
              <a:t>  同步下降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