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F0A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 Semibold"/>
              </a:rPr>
              <a:t>挑战 02 · 从数据混乱到数据信心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AF8"/>
                </a:solidFill>
                <a:latin typeface="Segoe UI"/>
              </a:rPr>
              <a:t>把结构化但混乱的零售数据，审计、修复、验证为可复现、可审计、AI 就绪的可信底座
—— 错误 → 诚信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92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Segoe UI"/>
              </a:rPr>
              <a:t>类注入错误被枚举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4892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4/5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79" y="55321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Segoe UI"/>
              </a:rPr>
              <a:t>项精确还原（0 猜测）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892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18/18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Segoe UI"/>
              </a:rPr>
              <a:t>完整性校验通过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892040"/>
            <a:ext cx="2651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"/>
              </a:rPr>
              <a:t>+44.9%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5532120"/>
            <a:ext cx="2651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6EAF8"/>
                </a:solidFill>
                <a:latin typeface="Segoe UI"/>
              </a:rPr>
              <a:t>营收虚高被移除</a:t>
            </a:r>
          </a:p>
        </p:txBody>
      </p:sp>
      <p:sp>
        <p:nvSpPr>
          <p:cNvPr id="14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目标：让数据「可信」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工作管道 vs 脆弱管道 —— 记录、检查、可复现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85216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① 错误审计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缺失、重复、孤儿外键、漂移类别、异常峰值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② 完整性修复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原则性修复，逐项给出理由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③ 验证结果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确认清洗不引入偏置、不扭曲分布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④ 透明文档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审计日志、变更摘要、可复现备注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1371600"/>
            <a:ext cx="4937760" cy="44805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60020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Segoe UI"/>
              </a:rP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48840"/>
            <a:ext cx="43891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Segoe UI"/>
              </a:rPr>
              <a:t>5 张表</a:t>
            </a:r>
            <a:r>
              <a:rPr sz="1300" b="0">
                <a:solidFill>
                  <a:srgbClr val="5B6472"/>
                </a:solidFill>
                <a:latin typeface="Segoe UI"/>
              </a:rPr>
              <a:t>（products/vendors/stores/categories/sales）</a:t>
            </a:r>
          </a:p>
          <a:p>
            <a:pPr algn="l"/>
            <a:r>
              <a:rPr sz="1300" b="1">
                <a:solidFill>
                  <a:srgbClr val="1A2332"/>
                </a:solidFill>
                <a:latin typeface="Segoe UI"/>
              </a:rPr>
              <a:t>sales</a:t>
            </a:r>
            <a:r>
              <a:rPr sz="1300" b="0">
                <a:solidFill>
                  <a:srgbClr val="5B6472"/>
                </a:solidFill>
                <a:latin typeface="Segoe UI"/>
              </a:rPr>
              <a:t>：2,859 交易，7 列，错误集中地</a:t>
            </a:r>
          </a:p>
          <a:p>
            <a:pPr algn="l"/>
            <a:r>
              <a:rPr sz="600" b="0">
                <a:solidFill>
                  <a:srgbClr val="5B6472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5B6472"/>
                </a:solidFill>
                <a:latin typeface="Segoe UI"/>
              </a:rPr>
              <a:t>维度表基本干净</a:t>
            </a:r>
            <a:r>
              <a:rPr sz="1300" b="0">
                <a:solidFill>
                  <a:srgbClr val="C0392B"/>
                </a:solidFill>
                <a:latin typeface="Segoe UI"/>
              </a:rPr>
              <a:t>；类别表有命名漂移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审计：9 类注入错误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1858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6EAF8"/>
                </a:solidFill>
                <a:latin typeface="Segoe UI"/>
              </a:rPr>
              <a:t>仅检测计数，绝不改动数据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6949440" cy="6583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9616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Segoe UI"/>
              </a:rPr>
              <a:t>缺失 txn_date / qty / unit_price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499616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B4F72"/>
                </a:solidFill>
                <a:latin typeface="Segoe UI"/>
              </a:rPr>
              <a:t>29 / 57 / 56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67128"/>
            <a:ext cx="6949440" cy="6583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Segoe UI"/>
              </a:rPr>
              <a:t>重复 txn_id（47 同 + 3 冲突）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249424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B4F72"/>
                </a:solidFill>
                <a:latin typeface="Segoe UI"/>
              </a:rPr>
              <a:t>50 组 / 100 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16936"/>
            <a:ext cx="6949440" cy="6583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Segoe UI"/>
              </a:rPr>
              <a:t>外键孤儿 store_id / product_id = 9999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999232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B4F72"/>
                </a:solidFill>
                <a:latin typeface="Segoe UI"/>
              </a:rPr>
              <a:t>14 / 29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666744"/>
            <a:ext cx="6949440" cy="6583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Segoe UI"/>
              </a:rPr>
              <a:t>数量离群（1000–4000，金额却正确）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749039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B4F72"/>
                </a:solidFill>
                <a:latin typeface="Segoe UI"/>
              </a:rPr>
              <a:t>29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416552"/>
            <a:ext cx="6949440" cy="6583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98848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Segoe UI"/>
              </a:rPr>
              <a:t>金额不一致（≠ qty×price）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498848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B4F72"/>
                </a:solidFill>
                <a:latin typeface="Segoe UI"/>
              </a:rPr>
              <a:t>43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66360"/>
            <a:ext cx="6949440" cy="658368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48656"/>
            <a:ext cx="5852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Segoe UI"/>
              </a:rPr>
              <a:t>类别命名漂移（Cat-One / category_2）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5248656"/>
            <a:ext cx="2103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1B4F72"/>
                </a:solidFill>
                <a:latin typeface="Segoe UI"/>
              </a:rPr>
              <a:t>2</a:t>
            </a:r>
          </a:p>
        </p:txBody>
      </p:sp>
      <p:pic>
        <p:nvPicPr>
          <p:cNvPr id="23" name="Picture 22" descr="fig1_missing_val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417320"/>
            <a:ext cx="38404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修复：精确还原优先，统计补值兜底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25880"/>
            <a:ext cx="576072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精确还原</a:t>
            </a:r>
            <a:r>
              <a:rPr sz="1500" b="0">
                <a:solidFill>
                  <a:srgbClr val="1A2332"/>
                </a:solidFill>
                <a:latin typeface="Segoe UI"/>
              </a:rPr>
              <a:t> — 由业务不变量反推，0 猜测：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  qty / unit_price</a:t>
            </a:r>
            <a:r>
              <a:rPr sz="1500" b="0">
                <a:solidFill>
                  <a:srgbClr val="1A2332"/>
                </a:solidFill>
                <a:latin typeface="Segoe UI"/>
              </a:rPr>
              <a:t> ← line_amount = qty×unit_price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  txn_date</a:t>
            </a:r>
            <a:r>
              <a:rPr sz="1500" b="0">
                <a:solidFill>
                  <a:srgbClr val="1A2332"/>
                </a:solidFill>
                <a:latin typeface="Segoe UI"/>
              </a:rPr>
              <a:t> ← txn_id → 日期的单调阶跃（时间感知）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  store_id</a:t>
            </a:r>
            <a:r>
              <a:rPr sz="1500" b="0">
                <a:solidFill>
                  <a:srgbClr val="1A2332"/>
                </a:solidFill>
                <a:latin typeface="Segoe UI"/>
              </a:rPr>
              <a:t> ← 每日门店 1→5 连续循环（结构感知）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离群修正</a:t>
            </a:r>
            <a:r>
              <a:rPr sz="1500" b="0">
                <a:solidFill>
                  <a:srgbClr val="1A2332"/>
                </a:solidFill>
                <a:latin typeface="Segoe UI"/>
              </a:rPr>
              <a:t> — qty ÷1000、金额重算 qty×price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唯一无信号</a:t>
            </a:r>
            <a:r>
              <a:rPr sz="1500" b="0">
                <a:solidFill>
                  <a:srgbClr val="1A2332"/>
                </a:solidFill>
                <a:latin typeface="Segoe UI"/>
              </a:rPr>
              <a:t> — product_id（与所有列不相关）</a:t>
            </a:r>
          </a:p>
          <a:p>
            <a:pPr algn="l"/>
            <a:r>
              <a:rPr sz="1500" b="1">
                <a:solidFill>
                  <a:srgbClr val="2C7FB8"/>
                </a:solidFill>
                <a:latin typeface="Segoe UI"/>
              </a:rPr>
              <a:t>• </a:t>
            </a:r>
            <a:r>
              <a:rPr sz="1500" b="1">
                <a:solidFill>
                  <a:srgbClr val="1A2332"/>
                </a:solidFill>
                <a:latin typeface="Segoe UI"/>
              </a:rPr>
              <a:t>  种子化比例抽样</a:t>
            </a:r>
            <a:r>
              <a:rPr sz="1500" b="0">
                <a:solidFill>
                  <a:srgbClr val="1A2332"/>
                </a:solidFill>
                <a:latin typeface="Segoe UI"/>
              </a:rPr>
              <a:t> — 保持边际分布无偏</a:t>
            </a:r>
          </a:p>
        </p:txBody>
      </p:sp>
      <p:pic>
        <p:nvPicPr>
          <p:cNvPr id="5" name="Picture 4" descr="fig3_amount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63040"/>
            <a:ext cx="5120640" cy="2487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验证：清洗不扭曲关键模式</a:t>
            </a:r>
          </a:p>
        </p:txBody>
      </p:sp>
      <p:pic>
        <p:nvPicPr>
          <p:cNvPr id="4" name="Picture 3" descr="fig4_dai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498079" cy="299923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1417320"/>
            <a:ext cx="3474720" cy="438912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645920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B4F72"/>
                </a:solidFill>
                <a:latin typeface="Segoe UI"/>
              </a:rPr>
              <a:t>净效应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2240280"/>
            <a:ext cx="31089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A2332"/>
                </a:solidFill>
                <a:latin typeface="Segoe UI"/>
              </a:rPr>
              <a:t>2,859 → 2,809</a:t>
            </a:r>
            <a:r>
              <a:rPr sz="1400" b="0">
                <a:solidFill>
                  <a:srgbClr val="5B6472"/>
                </a:solidFill>
                <a:latin typeface="Segoe UI"/>
              </a:rPr>
              <a:t> 行</a:t>
            </a:r>
          </a:p>
          <a:p>
            <a:pPr algn="l"/>
            <a:r>
              <a:rPr sz="1400" b="1">
                <a:solidFill>
                  <a:srgbClr val="C0392B"/>
                </a:solidFill>
                <a:latin typeface="Segoe UI"/>
              </a:rPr>
              <a:t>-50</a:t>
            </a:r>
            <a:r>
              <a:rPr sz="1400" b="0">
                <a:solidFill>
                  <a:srgbClr val="5B6472"/>
                </a:solidFill>
                <a:latin typeface="Segoe UI"/>
              </a:rPr>
              <a:t> 重复行</a:t>
            </a:r>
          </a:p>
          <a:p>
            <a:pPr algn="l"/>
            <a:r>
              <a:rPr sz="600" b="0">
                <a:solidFill>
                  <a:srgbClr val="5B6472"/>
                </a:solidFill>
                <a:latin typeface="Segoe UI"/>
              </a:rPr>
              <a:t/>
            </a:r>
          </a:p>
          <a:p>
            <a:pPr algn="l"/>
            <a:r>
              <a:rPr sz="1700" b="1">
                <a:solidFill>
                  <a:srgbClr val="1A2332"/>
                </a:solidFill>
                <a:latin typeface="Segoe UI"/>
              </a:rPr>
              <a:t>$265,880 → $183,483</a:t>
            </a:r>
          </a:p>
          <a:p>
            <a:pPr algn="l"/>
            <a:r>
              <a:rPr sz="1600" b="1">
                <a:solidFill>
                  <a:srgbClr val="C0392B"/>
                </a:solidFill>
                <a:latin typeface="Segoe UI"/>
              </a:rPr>
              <a:t>+44.9%</a:t>
            </a:r>
            <a:r>
              <a:rPr sz="1400" b="0">
                <a:solidFill>
                  <a:srgbClr val="5B6472"/>
                </a:solidFill>
                <a:latin typeface="Segoe UI"/>
              </a:rPr>
              <a:t> 营收虚高移除</a:t>
            </a:r>
          </a:p>
          <a:p>
            <a:pPr algn="l"/>
            <a:r>
              <a:rPr sz="600" b="0">
                <a:solidFill>
                  <a:srgbClr val="5B6472"/>
                </a:solidFill>
                <a:latin typeface="Segoe UI"/>
              </a:rPr>
              <a:t/>
            </a:r>
          </a:p>
          <a:p>
            <a:pPr algn="l"/>
            <a:r>
              <a:rPr sz="2000" b="1">
                <a:solidFill>
                  <a:srgbClr val="1B4F72"/>
                </a:solidFill>
                <a:latin typeface="Segoe UI"/>
              </a:rPr>
              <a:t>18/18</a:t>
            </a:r>
            <a:r>
              <a:rPr sz="1400" b="0">
                <a:solidFill>
                  <a:srgbClr val="5B6472"/>
                </a:solidFill>
                <a:latin typeface="Segoe UI"/>
              </a:rPr>
              <a:t> 校验通过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8585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Segoe UI Semibold"/>
              </a:rPr>
              <a:t>基线重测：清洗消除失真而非制造跳跃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5577840" cy="448056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B4F72"/>
                </a:solidFill>
                <a:latin typeface="Segoe UI"/>
              </a:rPr>
              <a:t>MAPE（脏 → 清洗）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332"/>
                </a:solidFill>
                <a:latin typeface="Segoe UI"/>
              </a:rPr>
              <a:t>persistence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10312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Segoe UI"/>
              </a:rPr>
              <a:t>252.5% → 79.9%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332"/>
                </a:solidFill>
                <a:latin typeface="Segoe UI"/>
              </a:rPr>
              <a:t>weekday_naive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97180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Segoe UI"/>
              </a:rPr>
              <a:t>227.1% → 57.3%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A2332"/>
                </a:solidFill>
                <a:latin typeface="Segoe UI"/>
              </a:rPr>
              <a:t>random_forest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404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0392B"/>
                </a:solidFill>
                <a:latin typeface="Segoe UI"/>
              </a:rPr>
              <a:t>303.7% → 65.3%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46320"/>
            <a:ext cx="5120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Segoe UI"/>
              </a:rPr>
              <a:t>三个模型误差均降 3–5 倍，回落到日营收固有噪声地板（~55–65%）。</a:t>
            </a:r>
          </a:p>
        </p:txBody>
      </p:sp>
      <p:pic>
        <p:nvPicPr>
          <p:cNvPr id="13" name="Picture 12" descr="fig5_re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394960" cy="22778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54864"/>
          </a:xfrm>
          <a:prstGeom prst="rect">
            <a:avLst/>
          </a:prstGeom>
          <a:solidFill>
            <a:srgbClr val="F0A3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Segoe UI Semibold"/>
              </a:rPr>
              <a:t>结论与展望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可审计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每步修复记录在 audit_log.csv 与 change_log.md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可复现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唯一随机源（product_id）固定种子 42，一条命令重放</a:t>
            </a:r>
          </a:p>
          <a:p>
            <a:pPr algn="l"/>
            <a:r>
              <a:rPr sz="1600" b="1">
                <a:solidFill>
                  <a:srgbClr val="2C7FB8"/>
                </a:solidFill>
                <a:latin typeface="Segoe UI"/>
              </a:rPr>
              <a:t>• </a:t>
            </a:r>
            <a:r>
              <a:rPr sz="1600" b="1">
                <a:solidFill>
                  <a:srgbClr val="1A2332"/>
                </a:solidFill>
                <a:latin typeface="Segoe UI"/>
              </a:rPr>
              <a:t>可信</a:t>
            </a:r>
            <a:r>
              <a:rPr sz="1600" b="0">
                <a:solidFill>
                  <a:srgbClr val="1A2332"/>
                </a:solidFill>
                <a:latin typeface="Segoe UI"/>
              </a:rPr>
              <a:t> — 18/18 校验通过，基线误差降 3–5 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D6EAF8"/>
                </a:solidFill>
                <a:latin typeface="Segoe UI"/>
              </a:rPr>
              <a:t>下一步：挑战 03（数据 → 信号）—— 以这份可信数据为地基，做时间序列模式建模与未来预测。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