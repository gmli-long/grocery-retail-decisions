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0A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挑战 01 · 从数据混乱到分析清晰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AF8"/>
                </a:solidFill>
                <a:latin typeface="Segoe UI"/>
              </a:rPr>
              <a:t>将分散的电子表格转化为结构化、可查询、可复现的关系型数据底座
—— 并验证其分析与建模就绪度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7→11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CCE3"/>
                </a:solidFill>
                <a:latin typeface="Segoe UI"/>
              </a:rPr>
              <a:t>7 平面文件 → 11 规范化实体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48463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5486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CCE3"/>
                </a:solidFill>
                <a:latin typeface="Segoe UI"/>
              </a:rPr>
              <a:t>异常行（约束全满足）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$512k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86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CCE3"/>
                </a:solidFill>
                <a:latin typeface="Segoe UI"/>
              </a:rPr>
              <a:t>2024 年总营收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8463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33.1%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5486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CCE3"/>
                </a:solidFill>
                <a:latin typeface="Segoe UI"/>
              </a:rPr>
              <a:t>基线模型 MAPE</a:t>
            </a:r>
          </a:p>
        </p:txBody>
      </p:sp>
      <p:sp>
        <p:nvSpPr>
          <p:cNvPr id="14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数据管道概览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一个命令复现整个流程：scripts/load_data.py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920240" cy="23774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920240" cy="502920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7510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170078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Segoe UI"/>
              </a:rPr>
              <a:t>7 个平面文件
4 种异构日期格式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C7FB8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920240"/>
            <a:ext cx="1920240" cy="23774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920240"/>
            <a:ext cx="1920240" cy="502920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97510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清洗/类型强制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606040"/>
            <a:ext cx="170078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Segoe UI"/>
              </a:rPr>
              <a:t>数值·日期强制
异常行标记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C7FB8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920240"/>
            <a:ext cx="1920240" cy="23774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1920240"/>
            <a:ext cx="1920240" cy="502920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97510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建模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606040"/>
            <a:ext cx="170078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Segoe UI"/>
              </a:rPr>
              <a:t>维度去重
代理键 + 外键解析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C7FB8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920240"/>
            <a:ext cx="1920240" cy="23774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1920240"/>
            <a:ext cx="1920240" cy="502920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97510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606040"/>
            <a:ext cx="170078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Segoe UI"/>
              </a:rPr>
              <a:t>PK/FK/CHECK 审计
计数日志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79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C7FB8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1920240"/>
            <a:ext cx="1920240" cy="23774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64040" y="1920240"/>
            <a:ext cx="1920240" cy="502920"/>
          </a:xfrm>
          <a:prstGeom prst="rect">
            <a:avLst/>
          </a:prstGeom>
          <a:solidFill>
            <a:srgbClr val="F0A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1975104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加载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606040"/>
            <a:ext cx="170078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Segoe UI"/>
              </a:rPr>
              <a:t>PostgreSQL
(或 SQLite 回退)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75488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行数对账（ETL 日志）：</a:t>
            </a:r>
            <a:r>
              <a:rPr sz="1500" b="0">
                <a:solidFill>
                  <a:srgbClr val="1A2332"/>
                </a:solidFill>
                <a:latin typeface="Segoe UI"/>
              </a:rPr>
              <a:t>products=60 · promotions=530 · stores=3 · receipts=13,259 · line_items=53,286 · inventory=2,160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约束结果：</a:t>
            </a:r>
            <a:r>
              <a:rPr sz="1500" b="0">
                <a:solidFill>
                  <a:srgbClr val="1A2332"/>
                </a:solidFill>
                <a:latin typeface="Segoe UI"/>
              </a:rPr>
              <a:t>REJECTED rows = 0，全部主键/外键/CHECK 约束满足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可审计：</a:t>
            </a:r>
            <a:r>
              <a:rPr sz="1500" b="0">
                <a:solidFill>
                  <a:srgbClr val="1A2332"/>
                </a:solidFill>
                <a:latin typeface="Segoe UI"/>
              </a:rPr>
              <a:t>逐表 source_rows / loaded 计数，异常行落盘 reports/etl/rejected_rows.csv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ERD 与模式设计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7 张维度 + 4 张事实，products 为中枢，票头/票行分离</a:t>
            </a:r>
          </a:p>
        </p:txBody>
      </p:sp>
      <p:pic>
        <p:nvPicPr>
          <p:cNvPr id="5" name="Picture 4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881360" cy="6761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C7FB8"/>
                </a:solidFill>
                <a:latin typeface="Segoe UI"/>
              </a:rPr>
              <a:t>• </a:t>
            </a:r>
            <a:r>
              <a:rPr sz="1300" b="1">
                <a:solidFill>
                  <a:srgbClr val="1A2332"/>
                </a:solidFill>
                <a:latin typeface="Segoe UI"/>
              </a:rPr>
              <a:t>规范化决策：</a:t>
            </a:r>
            <a:r>
              <a:rPr sz="1300" b="0">
                <a:solidFill>
                  <a:srgbClr val="1A2332"/>
                </a:solidFill>
                <a:latin typeface="Segoe UI"/>
              </a:rPr>
              <a:t>部门→类目→商品消除传递依赖；丢弃可推导列 weekend_flag、库存 unit_cost/value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EDA 亮点（1/2）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品类结构 · 门店 × 客群</a:t>
            </a:r>
          </a:p>
        </p:txBody>
      </p:sp>
      <p:pic>
        <p:nvPicPr>
          <p:cNvPr id="5" name="Picture 4" descr="fig1_departmen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847612"/>
          </a:xfrm>
          <a:prstGeom prst="rect">
            <a:avLst/>
          </a:prstGeom>
        </p:spPr>
      </p:pic>
      <p:pic>
        <p:nvPicPr>
          <p:cNvPr id="6" name="Picture 5" descr="fig3_store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394960" cy="3202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7FB8"/>
                </a:solidFill>
                <a:latin typeface="Segoe UI"/>
              </a:rPr>
              <a:t>• </a:t>
            </a:r>
            <a:r>
              <a:rPr sz="1400" b="1">
                <a:solidFill>
                  <a:srgbClr val="1A2332"/>
                </a:solidFill>
                <a:latin typeface="Segoe UI"/>
              </a:rPr>
              <a:t>品类：</a:t>
            </a:r>
            <a:r>
              <a:rPr sz="1400" b="0">
                <a:solidFill>
                  <a:srgbClr val="1A2332"/>
                </a:solidFill>
                <a:latin typeface="Segoe UI"/>
              </a:rPr>
              <a:t>Grocery 绝对主力（≈$174k，占 34%）；Wellness / Meat-Seafood / Dairy / Produce 第二梯队</a:t>
            </a:r>
          </a:p>
          <a:p>
            <a:pPr algn="l"/>
            <a:r>
              <a:rPr sz="1400" b="1">
                <a:solidFill>
                  <a:srgbClr val="2C7FB8"/>
                </a:solidFill>
                <a:latin typeface="Segoe UI"/>
              </a:rPr>
              <a:t>• </a:t>
            </a:r>
            <a:r>
              <a:rPr sz="1400" b="1">
                <a:solidFill>
                  <a:srgbClr val="1A2332"/>
                </a:solidFill>
                <a:latin typeface="Segoe UI"/>
              </a:rPr>
              <a:t>门店：</a:t>
            </a:r>
            <a:r>
              <a:rPr sz="1400" b="0">
                <a:solidFill>
                  <a:srgbClr val="1A2332"/>
                </a:solidFill>
                <a:latin typeface="Segoe UI"/>
              </a:rPr>
              <a:t>三店体量几乎一致（各 ≈$170k），会员贡献稳定更高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EDA 亮点（2/2）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时间趋势 · 促销 lift</a:t>
            </a:r>
          </a:p>
        </p:txBody>
      </p:sp>
      <p:pic>
        <p:nvPicPr>
          <p:cNvPr id="5" name="Picture 4" descr="fig2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708476"/>
          </a:xfrm>
          <a:prstGeom prst="rect">
            <a:avLst/>
          </a:prstGeom>
        </p:spPr>
      </p:pic>
      <p:pic>
        <p:nvPicPr>
          <p:cNvPr id="6" name="Picture 5" descr="fig4_promo_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394960" cy="3202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7FB8"/>
                </a:solidFill>
                <a:latin typeface="Segoe UI"/>
              </a:rPr>
              <a:t>• </a:t>
            </a:r>
            <a:r>
              <a:rPr sz="1400" b="1">
                <a:solidFill>
                  <a:srgbClr val="1A2332"/>
                </a:solidFill>
                <a:latin typeface="Segoe UI"/>
              </a:rPr>
              <a:t>时间：</a:t>
            </a:r>
            <a:r>
              <a:rPr sz="1400" b="0">
                <a:solidFill>
                  <a:srgbClr val="1A2332"/>
                </a:solidFill>
                <a:latin typeface="Segoe UI"/>
              </a:rPr>
              <a:t>月营收 $40k–$45k 窄幅波动，促销占比稳定 8%–11%</a:t>
            </a:r>
          </a:p>
          <a:p>
            <a:pPr algn="l"/>
            <a:r>
              <a:rPr sz="1400" b="1">
                <a:solidFill>
                  <a:srgbClr val="2C7FB8"/>
                </a:solidFill>
                <a:latin typeface="Segoe UI"/>
              </a:rPr>
              <a:t>• </a:t>
            </a:r>
            <a:r>
              <a:rPr sz="1400" b="1">
                <a:solidFill>
                  <a:srgbClr val="1A2332"/>
                </a:solidFill>
                <a:latin typeface="Segoe UI"/>
              </a:rPr>
              <a:t>促销：</a:t>
            </a:r>
            <a:r>
              <a:rPr sz="1400" b="0">
                <a:solidFill>
                  <a:srgbClr val="1A2332"/>
                </a:solidFill>
                <a:latin typeface="Segoe UI"/>
              </a:rPr>
              <a:t>BOGO50 把行均数量 1.29→2.16、行均营收最高（提量型）；PCT_OFF/LOYALTY_PCT 降价换量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基线模型：单店每日销售预测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RandomForest（日历特征）vs 两个朴素基线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46304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MAE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RMSE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MAPE (%)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persistence（昨日值）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176.1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224.1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41.42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weekday_naive（上周同 weekday）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197.6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241.4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32"/>
                          </a:solidFill>
                          <a:latin typeface="Segoe UI"/>
                        </a:rPr>
                        <a:t>48.52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random_forest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135.8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170.6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2332"/>
                          </a:solidFill>
                          <a:latin typeface="Segoe UI"/>
                        </a:rPr>
                        <a:t>33.05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fig7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2579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8056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C7FB8"/>
                </a:solidFill>
                <a:latin typeface="Segoe UI"/>
              </a:rPr>
              <a:t>• </a:t>
            </a:r>
            <a:r>
              <a:rPr sz="1300" b="1">
                <a:solidFill>
                  <a:srgbClr val="1A2332"/>
                </a:solidFill>
                <a:latin typeface="Segoe UI"/>
              </a:rPr>
              <a:t>结果：</a:t>
            </a:r>
            <a:r>
              <a:rPr sz="1300" b="0">
                <a:solidFill>
                  <a:srgbClr val="1A2332"/>
                </a:solidFill>
                <a:latin typeface="Segoe UI"/>
              </a:rPr>
              <a:t>RF 的 MAPE 比最优朴素基线提升 15.5 个百分点，dayofyear 为首要特征</a:t>
            </a:r>
          </a:p>
          <a:p>
            <a:pPr algn="l"/>
            <a:r>
              <a:rPr sz="1300" b="1">
                <a:solidFill>
                  <a:srgbClr val="2C7FB8"/>
                </a:solidFill>
                <a:latin typeface="Segoe UI"/>
              </a:rPr>
              <a:t>• </a:t>
            </a:r>
            <a:r>
              <a:rPr sz="1300" b="1">
                <a:solidFill>
                  <a:srgbClr val="1A2332"/>
                </a:solidFill>
                <a:latin typeface="Segoe UI"/>
              </a:rPr>
              <a:t>切分：</a:t>
            </a:r>
            <a:r>
              <a:rPr sz="1300" b="0">
                <a:solidFill>
                  <a:srgbClr val="1A2332"/>
                </a:solidFill>
                <a:latin typeface="Segoe UI"/>
              </a:rPr>
              <a:t>训练 1–10 月，测试 11–12 月（183 门店-日，覆盖 100%）</a:t>
            </a:r>
          </a:p>
          <a:p>
            <a:pPr algn="l"/>
            <a:r>
              <a:rPr sz="1300" b="1">
                <a:solidFill>
                  <a:srgbClr val="2C7FB8"/>
                </a:solidFill>
                <a:latin typeface="Segoe UI"/>
              </a:rPr>
              <a:t>• </a:t>
            </a:r>
            <a:r>
              <a:rPr sz="1300" b="1">
                <a:solidFill>
                  <a:srgbClr val="1A2332"/>
                </a:solidFill>
                <a:latin typeface="Segoe UI"/>
              </a:rPr>
              <a:t>局限：</a:t>
            </a:r>
            <a:r>
              <a:rPr sz="1300" b="0">
                <a:solidFill>
                  <a:srgbClr val="1A2332"/>
                </a:solidFill>
                <a:latin typeface="Segoe UI"/>
              </a:rPr>
              <a:t>日粒度噪声大（单店日均 ≈$156），聚合到周可显著降低误差；仅日历特征、单年窗口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关键要点与下一步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为挑战 02（完整性 → 错误）铺路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可复现：</a:t>
            </a:r>
            <a:r>
              <a:rPr sz="1600" b="0">
                <a:solidFill>
                  <a:srgbClr val="1A2332"/>
                </a:solidFill>
                <a:latin typeface="Segoe UI"/>
              </a:rPr>
              <a:t>一条命令 python scripts/load_data.py 从 7 个文件重建库，行数与源文件严格一致、0 异常行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可追踪：</a:t>
            </a:r>
            <a:r>
              <a:rPr sz="1600" b="0">
                <a:solidFill>
                  <a:srgbClr val="1A2332"/>
                </a:solidFill>
                <a:latin typeface="Segoe UI"/>
              </a:rPr>
              <a:t>逐表计数日志 + 异常行落盘，为审计与自动化铺路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分析就绪：</a:t>
            </a:r>
            <a:r>
              <a:rPr sz="1600" b="0">
                <a:solidFill>
                  <a:srgbClr val="1A2332"/>
                </a:solidFill>
                <a:latin typeface="Segoe UI"/>
              </a:rPr>
              <a:t>6 张 EDA 图 + 优于朴素基线的预测模型，均由规范 schema 的标准 SQL 驱动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建模严谨：</a:t>
            </a:r>
            <a:r>
              <a:rPr sz="1600" b="0">
                <a:solidFill>
                  <a:srgbClr val="1A2332"/>
                </a:solidFill>
                <a:latin typeface="Segoe UI"/>
              </a:rPr>
              <a:t>3NF + 完整外键/CHECK 约束，自身即数据质量第一道防线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23444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6B00"/>
                </a:solidFill>
                <a:latin typeface="Segoe UI"/>
              </a:rPr>
              <a:t>挑战 02 衔接：</a:t>
            </a:r>
            <a:r>
              <a:rPr sz="1400" b="0">
                <a:solidFill>
                  <a:srgbClr val="1A2332"/>
                </a:solidFill>
                <a:latin typeface="Segoe UI"/>
              </a:rPr>
              <a:t> ETL 已预留「不可解析日期 / 外键孤儿 / 数值越界 / 重复键」四类拒绝路径，可在真实数据质量压力下直接量化错误。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